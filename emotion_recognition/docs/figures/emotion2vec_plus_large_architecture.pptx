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emotion2vec+ large 结构图（张量形状以 4 秒、16 kHz 的片段为例，batch = 1）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77240"/>
            <a:ext cx="1600200" cy="20574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输入波形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16 kHz 单声道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整段做 LayerNorm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（normalize: true）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(1, 64000)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777240"/>
            <a:ext cx="269748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CNN 特征提取器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7 层 Conv1d，512 通道，无 bias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kernel 10, 3, 3, 3, 3, 2, 2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stride 5, 2, 2, 2, 2, 2, 2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每层后接 LayerNorm + GELU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步长 320 点 = 20 ms（50 Hz）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感受野 400 点 = 25 ms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(1, 512, 199)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4.21 M 参数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777240"/>
            <a:ext cx="160020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投影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LayerNorm(512)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Linear 512→1024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0.53 M 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777240"/>
            <a:ext cx="278892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卷积位置编码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5 层 Conv1d(1024, k = 19,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groups = 16) + LayerNorm + GELU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输出加回输入：相对位置，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感受野 91 帧 ≈ 1.8 s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6.23 M 参数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777240"/>
            <a:ext cx="2130552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extra token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10 个可学习向量，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拼在序列最前面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(1, 209, 1024)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0.01 M 参数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938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974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9282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6462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" y="3246120"/>
            <a:ext cx="4526280" cy="2350008"/>
          </a:xfrm>
          <a:prstGeom prst="roundRect">
            <a:avLst>
              <a:gd name="adj" fmla="val 6000"/>
            </a:avLst>
          </a:prstGeom>
          <a:solidFill>
            <a:srgbClr val="FFF3E3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00984"/>
            <a:ext cx="430682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Transformer 编码器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557015"/>
            <a:ext cx="43068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LayerNorm，然后 12 个相同的 block（4 + 8）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50791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多头自注意力（16 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残差相加 + LayerNorm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85900" y="4329683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4818888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FFN 1024→4096→1024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85900" y="4713731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5202936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残差相加 + LayerNorm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85900" y="5097779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3813048"/>
            <a:ext cx="2057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每个 block（× 12）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849624"/>
            <a:ext cx="2167127" cy="16733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d = 1024，每头 64 维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post-LN，GELU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ALiBi 距离偏置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−slope × scale × |i − j|：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9 个头偏向近处，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7 个头看全局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注意力分数 (1, 16, 209, 209)</a:t>
            </a:r>
          </a:p>
          <a:p>
            <a:pPr algn="l">
              <a:spcAft>
                <a:spcPts val="5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(1, 209, 1024)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151.2 M 参数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（每个 block 12.6 M）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3246120"/>
            <a:ext cx="2103120" cy="2350008"/>
          </a:xfrm>
          <a:prstGeom prst="roundRect">
            <a:avLst>
              <a:gd name="adj" fmla="val 6000"/>
            </a:avLst>
          </a:prstGeom>
          <a:solidFill>
            <a:srgbClr val="FFF3E3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去掉 extra token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帧特征，50 Hz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granularity = "frame"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34656" y="3246120"/>
            <a:ext cx="2103120" cy="2350008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时间维平均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句级 embedding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granularity = "utterance"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0384" y="3246120"/>
            <a:ext cx="1938528" cy="2350008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分类头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Linear 1024→9 + softmax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  <a:ea typeface="Hiragino Sans GB"/>
                <a:cs typeface="Hiragino Sans GB"/>
              </a:rPr>
              <a:t>(1, 9)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生气 厌恶 恐惧 开心 中立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其他 难过 吃惊 &lt;unk&gt;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9,225 参数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55464" y="4421124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51192" y="4421124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46919" y="4421124"/>
            <a:ext cx="274321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03636" y="2843784"/>
            <a:ext cx="0" cy="196596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583180" y="3040380"/>
            <a:ext cx="8220456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83180" y="3040380"/>
            <a:ext cx="0" cy="196596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0040" y="5733288"/>
            <a:ext cx="11548872" cy="676656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57790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参数（从 model.pt 实测）：CNN 4.21 M · 投影 0.53 M · 卷积位置编码 6.23 M · Transformer 151.2 M · extra token + ALiBi 0.01 M · 分类头 0.009 M，合计 162.1 M（fp32 0.65 GB）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6071616"/>
            <a:ext cx="113385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Arial"/>
                <a:ea typeface="Hiragino Sans GB"/>
                <a:cs typeface="Hiragino Sans GB"/>
              </a:rPr>
              <a:t>model.pt（1.95 GB）= 权重 0.65 GB + Adam 优化器状态 1.30 GB + 训练配置。FunASR 还会构建一个 1.9 M 参数的预训练 decoder：不在 model.pt 里，推理时不用。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55664"/>
            <a:ext cx="115488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Arial"/>
                <a:ea typeface="Hiragino Sans GB"/>
                <a:cs typeface="Hiragino Sans GB"/>
              </a:rPr>
              <a:t>来源：config.yaml、model.pt 的 state dict、FunASR 1.4.16 的 funasr/models/emotion2vec/；形状用 forward hook 实测。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</a:rPr>
              <a:t>emotion2vec+ large architecture (tensor shapes for one 4 s clip at 16 kHz, batch =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77240"/>
            <a:ext cx="1600200" cy="20574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Input waveform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16 kHz mono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LayerNorm over the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whole clip (normalize)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(1, 64000)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777240"/>
            <a:ext cx="269748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CNN feature extractor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7 × Conv1d, 512 channels, no bias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kernels 10, 3, 3, 3, 3, 2, 2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strides 5, 2, 2, 2, 2, 2, 2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each + LayerNorm + GELU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hop 320 samples = 20 ms (50 Hz)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receptive field 400 = 25 ms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(1, 512, 199)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4.21 M 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777240"/>
            <a:ext cx="160020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Projection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LayerNorm(512)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Linear 512→1024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0.53 M 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777240"/>
            <a:ext cx="2788920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Conv positional encoding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5 × Conv1d(1024, k = 19,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groups = 16) + LayerNorm + GELU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added to its input: relative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position, 91 frames ≈ 1.8 s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6.23 M 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777240"/>
            <a:ext cx="2130552" cy="2057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Extra tokens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10 learned vectors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put in front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(1, 209, 1024)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0.01 M params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938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974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9282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64624" y="1805940"/>
            <a:ext cx="164592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" y="3246120"/>
            <a:ext cx="4526280" cy="2350008"/>
          </a:xfrm>
          <a:prstGeom prst="roundRect">
            <a:avLst>
              <a:gd name="adj" fmla="val 6000"/>
            </a:avLst>
          </a:prstGeom>
          <a:solidFill>
            <a:srgbClr val="FFF3E3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00984"/>
            <a:ext cx="430682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</a:rPr>
              <a:t>Transformer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557015"/>
            <a:ext cx="430682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Arial"/>
              </a:rPr>
              <a:t>LayerNorm, then 12 identical blocks (4 + 8)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50791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Self-attention (16 heads)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Add + LayerNorm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85900" y="4329683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4818888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FFN 1024→4096→1024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85900" y="4713731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5202936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Arial"/>
              </a:rPr>
              <a:t>Add + LayerNorm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85900" y="5097779"/>
            <a:ext cx="0" cy="100585"/>
          </a:xfrm>
          <a:prstGeom prst="line">
            <a:avLst/>
          </a:prstGeom>
          <a:ln w="127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3813048"/>
            <a:ext cx="2057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one block (× 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849624"/>
            <a:ext cx="2167127" cy="16733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d = 1024, 64 per head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post-LN, GELU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ALiBi distance bias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−slope × scale × |i − j|: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9 heads favour nearby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frames, 7 heads global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scores (1, 16, 209, 209)</a:t>
            </a:r>
          </a:p>
          <a:p>
            <a:pPr algn="l">
              <a:spcAft>
                <a:spcPts val="5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(1, 209, 1024)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151.2 M params</a:t>
            </a:r>
          </a:p>
          <a:p>
            <a:pPr algn="l">
              <a:spcAft>
                <a:spcPts val="5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(12.6 M per block)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3246120"/>
            <a:ext cx="2103120" cy="2350008"/>
          </a:xfrm>
          <a:prstGeom prst="roundRect">
            <a:avLst>
              <a:gd name="adj" fmla="val 6000"/>
            </a:avLst>
          </a:prstGeom>
          <a:solidFill>
            <a:srgbClr val="FFF3E3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Drop extra tokens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frame features, 50 Hz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(1, 199, 1024)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granularity = "frame"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34656" y="3246120"/>
            <a:ext cx="2103120" cy="2350008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Mean over time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utterance embedding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(1, 1024)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granularity = "utterance"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0384" y="3246120"/>
            <a:ext cx="1938528" cy="2350008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latin typeface="Arial"/>
              </a:rPr>
              <a:t>Classifier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Linear 1024→9 + softmax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(1, 9)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angry disgusted fearful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happy neutral other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222222"/>
                </a:solidFill>
                <a:latin typeface="Arial"/>
              </a:rPr>
              <a:t>sad surprised &lt;unk&gt;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9,225 params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55464" y="4421124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51192" y="4421124"/>
            <a:ext cx="2743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46919" y="4421124"/>
            <a:ext cx="274321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03636" y="2843784"/>
            <a:ext cx="0" cy="196596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583180" y="3040380"/>
            <a:ext cx="8220456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83180" y="3040380"/>
            <a:ext cx="0" cy="196596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0040" y="5733288"/>
            <a:ext cx="11548872" cy="676656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57790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Arial"/>
              </a:rPr>
              <a:t>Parameters (measured in model.pt): CNN 4.21 M · projection 0.53 M · positional conv 6.23 M · Transformer 151.2 M · extra tokens + ALiBi 0.01 M · classifier 0.009 M; total 162.1 M (0.65 GB in fp32)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6071616"/>
            <a:ext cx="113385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Arial"/>
              </a:rPr>
              <a:t>model.pt (1.95 GB) = weights 0.65 GB + Adam optimizer state 1.30 GB + training config. FunASR also builds a 1.9 M pre-training decoder: not in model.pt, not used for inference.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55664"/>
            <a:ext cx="115488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Arial"/>
              </a:rPr>
              <a:t>Sources: config.yaml, the model.pt state dict, FunASR 1.4.16 funasr/models/emotion2vec/; shapes measured with forward hooks.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emotion2vec+ large architecture</dc:title>
  <dc:subject/>
  <dc:creator/>
  <cp:keywords/>
  <dc:description>Slide 1: Chinese labels; slide 2: English labels</dc:description>
  <cp:lastModifiedBy/>
  <cp:revision>1</cp:revision>
  <dcterms:created xsi:type="dcterms:W3CDTF">2026-10-28T12:00:00Z</dcterms:created>
  <dcterms:modified xsi:type="dcterms:W3CDTF">2026-10-28T12:00:00Z</dcterms:modified>
  <cp:category/>
</cp:coreProperties>
</file>