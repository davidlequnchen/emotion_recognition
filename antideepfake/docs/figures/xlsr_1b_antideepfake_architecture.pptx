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1F2937"/>
                </a:solidFill>
                <a:latin typeface="Arial"/>
                <a:ea typeface="PingFang SC"/>
              </a:rPr>
              <a:t>XLS-R-1B-AntiDeepfake 网络结构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21792"/>
            <a:ext cx="11338560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Arial"/>
                <a:ea typeface="PingFang SC"/>
              </a:rPr>
              <a:t>例：4 秒音频 = 64,000 个采样点（16 kHz）。方括号里是张量形状 [batch, …]；参数量由本地 xlsr_1b.ckpt 统计。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" y="1024128"/>
            <a:ext cx="4983480" cy="420624"/>
          </a:xfrm>
          <a:prstGeom prst="roundRect">
            <a:avLst>
              <a:gd name="adj" fmla="val 10000"/>
            </a:avLst>
          </a:prstGeom>
          <a:solidFill>
            <a:srgbClr val="F1F3F6"/>
          </a:solidFill>
          <a:ln w="15875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sz="1400" b="1" i="0">
                <a:solidFill>
                  <a:srgbClr val="1F2937"/>
                </a:solidFill>
                <a:latin typeface="Arial"/>
                <a:ea typeface="PingFang SC"/>
              </a:rPr>
              <a:t>输入</a:t>
            </a:r>
            <a:r>
              <a:rPr sz="1200" b="0" i="0">
                <a:solidFill>
                  <a:srgbClr val="1F2937"/>
                </a:solidFill>
                <a:latin typeface="Arial"/>
                <a:ea typeface="PingFang SC"/>
              </a:rPr>
              <a:t>   16 kHz 单声道波形，归一化为零均值、单位方差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23559" y="1024128"/>
            <a:ext cx="1234440" cy="42062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1100" b="0" i="1">
                <a:solidFill>
                  <a:srgbClr val="4B5563"/>
                </a:solidFill>
                <a:latin typeface="Arial"/>
                <a:ea typeface="PingFang SC"/>
              </a:rPr>
              <a:t>参数量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451860" y="1444752"/>
            <a:ext cx="0" cy="246888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561588" y="1444752"/>
            <a:ext cx="3291840" cy="2468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  <a:latin typeface="Menlo"/>
                <a:ea typeface="PingFang SC"/>
              </a:rPr>
              <a:t>[1, 64000]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1691640"/>
            <a:ext cx="4983480" cy="877824"/>
          </a:xfrm>
          <a:prstGeom prst="roundRect">
            <a:avLst>
              <a:gd name="adj" fmla="val 10000"/>
            </a:avLst>
          </a:prstGeom>
          <a:solidFill>
            <a:srgbClr val="E3EEFA"/>
          </a:solidFill>
          <a:ln w="15875">
            <a:solidFill>
              <a:srgbClr val="3D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sz="1400" b="1" i="0">
                <a:solidFill>
                  <a:srgbClr val="1F2937"/>
                </a:solidFill>
                <a:latin typeface="Arial"/>
                <a:ea typeface="PingFang SC"/>
              </a:rPr>
              <a:t>CNN 特征编码器</a:t>
            </a:r>
          </a:p>
          <a:p>
            <a:pPr algn="l"/>
            <a:r>
              <a:rPr sz="1200" b="0" i="0">
                <a:solidFill>
                  <a:srgbClr val="1F2937"/>
                </a:solidFill>
                <a:latin typeface="Arial"/>
                <a:ea typeface="PingFang SC"/>
              </a:rPr>
              <a:t>7 × (Conv1d → LayerNorm → GELU)，512 通道</a:t>
            </a:r>
          </a:p>
          <a:p>
            <a:pPr algn="l"/>
            <a:r>
              <a:rPr sz="1200" b="0" i="0">
                <a:solidFill>
                  <a:srgbClr val="1F2937"/>
                </a:solidFill>
                <a:latin typeface="Arial"/>
                <a:ea typeface="PingFang SC"/>
              </a:rPr>
              <a:t>kernel 10,3,3,3,3,2,2 · stride 5,2,2,2,2,2,2</a:t>
            </a:r>
          </a:p>
          <a:p>
            <a:pPr algn="l"/>
            <a:r>
              <a:rPr sz="1200" b="0" i="0">
                <a:solidFill>
                  <a:srgbClr val="1F2937"/>
                </a:solidFill>
                <a:latin typeface="Arial"/>
                <a:ea typeface="PingFang SC"/>
              </a:rPr>
              <a:t>每帧看 25 ms 音频，帧移 20 ms（约 50 帧/秒）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9320" y="1691640"/>
            <a:ext cx="868680" cy="87782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1300" b="1" i="0">
                <a:solidFill>
                  <a:srgbClr val="3D6FB0"/>
                </a:solidFill>
                <a:latin typeface="Arial"/>
                <a:ea typeface="PingFang SC"/>
              </a:rPr>
              <a:t>4.21 M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451860" y="2569464"/>
            <a:ext cx="0" cy="246888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561588" y="2569464"/>
            <a:ext cx="3291840" cy="2468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  <a:latin typeface="Menlo"/>
                <a:ea typeface="PingFang SC"/>
              </a:rPr>
              <a:t>[1, 512, 199]   199 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2816352"/>
            <a:ext cx="4983480" cy="420624"/>
          </a:xfrm>
          <a:prstGeom prst="roundRect">
            <a:avLst>
              <a:gd name="adj" fmla="val 10000"/>
            </a:avLst>
          </a:prstGeom>
          <a:solidFill>
            <a:srgbClr val="E3EEFA"/>
          </a:solidFill>
          <a:ln w="15875">
            <a:solidFill>
              <a:srgbClr val="3D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sz="1400" b="1" i="0">
                <a:solidFill>
                  <a:srgbClr val="1F2937"/>
                </a:solidFill>
                <a:latin typeface="Arial"/>
                <a:ea typeface="PingFang SC"/>
              </a:rPr>
              <a:t>特征投影</a:t>
            </a:r>
            <a:r>
              <a:rPr sz="1200" b="0" i="0">
                <a:solidFill>
                  <a:srgbClr val="1F2937"/>
                </a:solidFill>
                <a:latin typeface="Arial"/>
                <a:ea typeface="PingFang SC"/>
              </a:rPr>
              <a:t>   LayerNorm(512) → Linear 512→1280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2816352"/>
            <a:ext cx="868680" cy="42062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1300" b="1" i="0">
                <a:solidFill>
                  <a:srgbClr val="3D6FB0"/>
                </a:solidFill>
                <a:latin typeface="Arial"/>
                <a:ea typeface="PingFang SC"/>
              </a:rPr>
              <a:t>0.66 M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451860" y="3236976"/>
            <a:ext cx="0" cy="246888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561588" y="3236976"/>
            <a:ext cx="3291840" cy="2468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  <a:latin typeface="Menlo"/>
                <a:ea typeface="PingFang SC"/>
              </a:rPr>
              <a:t>[1, 199, 1280]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" y="3483864"/>
            <a:ext cx="4983480" cy="566928"/>
          </a:xfrm>
          <a:prstGeom prst="roundRect">
            <a:avLst>
              <a:gd name="adj" fmla="val 10000"/>
            </a:avLst>
          </a:prstGeom>
          <a:solidFill>
            <a:srgbClr val="E3EEFA"/>
          </a:solidFill>
          <a:ln w="15875">
            <a:solidFill>
              <a:srgbClr val="3D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sz="1400" b="1" i="0">
                <a:solidFill>
                  <a:srgbClr val="1F2937"/>
                </a:solidFill>
                <a:latin typeface="Arial"/>
                <a:ea typeface="PingFang SC"/>
              </a:rPr>
              <a:t>卷积位置编码</a:t>
            </a:r>
          </a:p>
          <a:p>
            <a:pPr algn="l"/>
            <a:r>
              <a:rPr sz="1200" b="0" i="0">
                <a:solidFill>
                  <a:srgbClr val="1F2937"/>
                </a:solidFill>
                <a:latin typeface="Arial"/>
                <a:ea typeface="PingFang SC"/>
              </a:rPr>
              <a:t>Conv1d（kernel 128，16 组）→ GELU，结果加回输入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3483864"/>
            <a:ext cx="868680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1300" b="1" i="0">
                <a:solidFill>
                  <a:srgbClr val="3D6FB0"/>
                </a:solidFill>
                <a:latin typeface="Arial"/>
                <a:ea typeface="PingFang SC"/>
              </a:rPr>
              <a:t>13.11 M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451860" y="4050791"/>
            <a:ext cx="0" cy="246888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561588" y="4050791"/>
            <a:ext cx="3291840" cy="2468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  <a:latin typeface="Menlo"/>
                <a:ea typeface="PingFang SC"/>
              </a:rPr>
              <a:t>[1, 199, 1280]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" y="4297680"/>
            <a:ext cx="4983480" cy="658368"/>
          </a:xfrm>
          <a:prstGeom prst="roundRect">
            <a:avLst>
              <a:gd name="adj" fmla="val 10000"/>
            </a:avLst>
          </a:prstGeom>
          <a:solidFill>
            <a:srgbClr val="D3E3F7"/>
          </a:solidFill>
          <a:ln w="15875">
            <a:solidFill>
              <a:srgbClr val="2F5F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sz="1400" b="1" i="0">
                <a:solidFill>
                  <a:srgbClr val="1F2937"/>
                </a:solidFill>
                <a:latin typeface="Arial"/>
                <a:ea typeface="PingFang SC"/>
              </a:rPr>
              <a:t>Transformer 编码器 × 48</a:t>
            </a:r>
          </a:p>
          <a:p>
            <a:pPr algn="l"/>
            <a:r>
              <a:rPr sz="1200" b="0" i="0">
                <a:solidFill>
                  <a:srgbClr val="1F2937"/>
                </a:solidFill>
                <a:latin typeface="Arial"/>
                <a:ea typeface="PingFang SC"/>
              </a:rPr>
              <a:t>宽 1280 · 16 个头 · FFN 5120 · GELU · Pre-LN</a:t>
            </a:r>
          </a:p>
          <a:p>
            <a:pPr algn="l"/>
            <a:r>
              <a:rPr sz="1200" b="0" i="0">
                <a:solidFill>
                  <a:srgbClr val="1F2937"/>
                </a:solidFill>
                <a:latin typeface="Arial"/>
                <a:ea typeface="PingFang SC"/>
              </a:rPr>
              <a:t>48 层之后再接一个 LayerNorm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4297680"/>
            <a:ext cx="868680" cy="65836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1300" b="1" i="0">
                <a:solidFill>
                  <a:srgbClr val="2F5F9E"/>
                </a:solidFill>
                <a:latin typeface="Arial"/>
                <a:ea typeface="PingFang SC"/>
              </a:rPr>
              <a:t>944.52 M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451860" y="4956048"/>
            <a:ext cx="0" cy="246888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561588" y="4956048"/>
            <a:ext cx="3291840" cy="2468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  <a:latin typeface="Menlo"/>
                <a:ea typeface="PingFang SC"/>
              </a:rPr>
              <a:t>[1, 199, 1280]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0120" y="5202936"/>
            <a:ext cx="4983480" cy="566928"/>
          </a:xfrm>
          <a:prstGeom prst="roundRect">
            <a:avLst>
              <a:gd name="adj" fmla="val 10000"/>
            </a:avLst>
          </a:prstGeom>
          <a:solidFill>
            <a:srgbClr val="FCE9D2"/>
          </a:solidFill>
          <a:ln w="15875">
            <a:solidFill>
              <a:srgbClr val="C97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sz="1400" b="1" i="0">
                <a:solidFill>
                  <a:srgbClr val="1F2937"/>
                </a:solidFill>
                <a:latin typeface="Arial"/>
                <a:ea typeface="PingFang SC"/>
              </a:rPr>
              <a:t>分类头（AntiDeepfake）</a:t>
            </a:r>
          </a:p>
          <a:p>
            <a:pPr algn="l"/>
            <a:r>
              <a:rPr sz="1200" b="0" i="0">
                <a:solidFill>
                  <a:srgbClr val="1F2937"/>
                </a:solidFill>
                <a:latin typeface="Arial"/>
                <a:ea typeface="PingFang SC"/>
              </a:rPr>
              <a:t>对 199 帧取平均 → [1, 1280] → Linear 1280→2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5202936"/>
            <a:ext cx="868680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1300" b="1" i="0">
                <a:solidFill>
                  <a:srgbClr val="C9792B"/>
                </a:solidFill>
                <a:latin typeface="Arial"/>
                <a:ea typeface="PingFang SC"/>
              </a:rPr>
              <a:t>2,562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451860" y="5769864"/>
            <a:ext cx="0" cy="246888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561588" y="5769864"/>
            <a:ext cx="3291840" cy="2468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  <a:latin typeface="Menlo"/>
                <a:ea typeface="PingFang SC"/>
              </a:rPr>
              <a:t>[1, 2]   logits [fake, real]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0120" y="6016752"/>
            <a:ext cx="4983480" cy="420624"/>
          </a:xfrm>
          <a:prstGeom prst="roundRect">
            <a:avLst>
              <a:gd name="adj" fmla="val 10000"/>
            </a:avLst>
          </a:prstGeom>
          <a:solidFill>
            <a:srgbClr val="F1F3F6"/>
          </a:solidFill>
          <a:ln w="15875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sz="1400" b="1" i="0">
                <a:solidFill>
                  <a:srgbClr val="1F2937"/>
                </a:solidFill>
                <a:latin typeface="Arial"/>
                <a:ea typeface="PingFang SC"/>
              </a:rPr>
              <a:t>输出</a:t>
            </a:r>
            <a:r>
              <a:rPr sz="1200" b="0" i="0">
                <a:solidFill>
                  <a:srgbClr val="1F2937"/>
                </a:solidFill>
                <a:latin typeface="Arial"/>
                <a:ea typeface="PingFang SC"/>
              </a:rPr>
              <a:t>   softmax → P(real)；P(real) ≥ 0.5 判为真实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41248" y="1728216"/>
            <a:ext cx="0" cy="3191256"/>
          </a:xfrm>
          <a:prstGeom prst="line">
            <a:avLst/>
          </a:prstGeom>
          <a:ln w="25400">
            <a:solidFill>
              <a:srgbClr val="3D6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41248" y="1728216"/>
            <a:ext cx="73152" cy="0"/>
          </a:xfrm>
          <a:prstGeom prst="line">
            <a:avLst/>
          </a:prstGeom>
          <a:ln w="25400">
            <a:solidFill>
              <a:srgbClr val="3D6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41248" y="4919472"/>
            <a:ext cx="73152" cy="0"/>
          </a:xfrm>
          <a:prstGeom prst="line">
            <a:avLst/>
          </a:prstGeom>
          <a:ln w="25400">
            <a:solidFill>
              <a:srgbClr val="3D6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 rot="16200000">
            <a:off x="-992124" y="3168396"/>
            <a:ext cx="3264408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150" b="1" i="0">
                <a:solidFill>
                  <a:srgbClr val="3D6FB0"/>
                </a:solidFill>
                <a:latin typeface="Arial"/>
                <a:ea typeface="PingFang SC"/>
              </a:rPr>
              <a:t>XLS-R 1B 主干（wav2vec 2.0）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41248" y="5239512"/>
            <a:ext cx="0" cy="493776"/>
          </a:xfrm>
          <a:prstGeom prst="line">
            <a:avLst/>
          </a:prstGeom>
          <a:ln w="25400">
            <a:solidFill>
              <a:srgbClr val="C97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41248" y="5239512"/>
            <a:ext cx="73152" cy="0"/>
          </a:xfrm>
          <a:prstGeom prst="line">
            <a:avLst/>
          </a:prstGeom>
          <a:ln w="25400">
            <a:solidFill>
              <a:srgbClr val="C97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41248" y="5733288"/>
            <a:ext cx="73152" cy="0"/>
          </a:xfrm>
          <a:prstGeom prst="line">
            <a:avLst/>
          </a:prstGeom>
          <a:ln w="25400">
            <a:solidFill>
              <a:srgbClr val="C97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 rot="16200000">
            <a:off x="182879" y="5330952"/>
            <a:ext cx="914400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150" b="1" i="0">
                <a:solidFill>
                  <a:srgbClr val="C9792B"/>
                </a:solidFill>
                <a:latin typeface="Arial"/>
                <a:ea typeface="PingFang SC"/>
              </a:rPr>
              <a:t>分类头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78040" y="1024128"/>
            <a:ext cx="466344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Arial"/>
                <a:ea typeface="PingFang SC"/>
              </a:rPr>
              <a:t>单层 Transformer（Pre-LN），共 48 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78040" y="1444752"/>
            <a:ext cx="4663440" cy="4261104"/>
          </a:xfrm>
          <a:prstGeom prst="roundRect">
            <a:avLst>
              <a:gd name="adj" fmla="val 4000"/>
            </a:avLst>
          </a:prstGeom>
          <a:solidFill>
            <a:srgbClr val="F8FAFD"/>
          </a:solidFill>
          <a:ln w="12700">
            <a:solidFill>
              <a:srgbClr val="2F5F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08392" y="1536192"/>
            <a:ext cx="379476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150" b="0" i="0">
                <a:solidFill>
                  <a:srgbClr val="374151"/>
                </a:solidFill>
                <a:latin typeface="Menlo"/>
                <a:ea typeface="PingFang SC"/>
              </a:rPr>
              <a:t>输入 [1, 199, 1280]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65592" y="1993392"/>
            <a:ext cx="2880360" cy="329184"/>
          </a:xfrm>
          <a:prstGeom prst="roundRect">
            <a:avLst>
              <a:gd name="adj" fmla="val 10000"/>
            </a:avLst>
          </a:prstGeom>
          <a:solidFill>
            <a:srgbClr val="F1F3F6"/>
          </a:solidFill>
          <a:ln w="15875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ctr"/>
            <a:r>
              <a:rPr sz="1200" b="0" i="0">
                <a:solidFill>
                  <a:srgbClr val="1F2937"/>
                </a:solidFill>
                <a:latin typeface="Arial"/>
                <a:ea typeface="PingFang SC"/>
              </a:rPr>
              <a:t>LayerNorm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65592" y="2505456"/>
            <a:ext cx="2880360" cy="420624"/>
          </a:xfrm>
          <a:prstGeom prst="roundRect">
            <a:avLst>
              <a:gd name="adj" fmla="val 10000"/>
            </a:avLst>
          </a:prstGeom>
          <a:solidFill>
            <a:srgbClr val="D3E3F7"/>
          </a:solidFill>
          <a:ln w="15875">
            <a:solidFill>
              <a:srgbClr val="2F5F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ctr"/>
            <a:r>
              <a:rPr sz="1200" b="1" i="0">
                <a:solidFill>
                  <a:srgbClr val="1F2937"/>
                </a:solidFill>
                <a:latin typeface="Arial"/>
                <a:ea typeface="PingFang SC"/>
              </a:rPr>
              <a:t>多头自注意力</a:t>
            </a:r>
            <a:r>
              <a:rPr sz="1200" b="0" i="0">
                <a:solidFill>
                  <a:srgbClr val="1F2937"/>
                </a:solidFill>
                <a:latin typeface="Arial"/>
                <a:ea typeface="PingFang SC"/>
              </a:rPr>
              <a:t>（16 头 × 80 维）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65592" y="3657600"/>
            <a:ext cx="2880360" cy="329184"/>
          </a:xfrm>
          <a:prstGeom prst="roundRect">
            <a:avLst>
              <a:gd name="adj" fmla="val 10000"/>
            </a:avLst>
          </a:prstGeom>
          <a:solidFill>
            <a:srgbClr val="F1F3F6"/>
          </a:solidFill>
          <a:ln w="15875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ctr"/>
            <a:r>
              <a:rPr sz="1200" b="0" i="0">
                <a:solidFill>
                  <a:srgbClr val="1F2937"/>
                </a:solidFill>
                <a:latin typeface="Arial"/>
                <a:ea typeface="PingFang SC"/>
              </a:rPr>
              <a:t>LayerNorm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165592" y="4169664"/>
            <a:ext cx="2880360" cy="566928"/>
          </a:xfrm>
          <a:prstGeom prst="roundRect">
            <a:avLst>
              <a:gd name="adj" fmla="val 10000"/>
            </a:avLst>
          </a:prstGeom>
          <a:solidFill>
            <a:srgbClr val="D3E3F7"/>
          </a:solidFill>
          <a:ln w="15875">
            <a:solidFill>
              <a:srgbClr val="2F5F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ctr"/>
            <a:r>
              <a:rPr sz="1200" b="1" i="0">
                <a:solidFill>
                  <a:srgbClr val="1F2937"/>
                </a:solidFill>
                <a:latin typeface="Arial"/>
                <a:ea typeface="PingFang SC"/>
              </a:rPr>
              <a:t>FFN</a:t>
            </a:r>
            <a:r>
              <a:rPr sz="1200" b="0" i="0">
                <a:solidFill>
                  <a:srgbClr val="1F2937"/>
                </a:solidFill>
                <a:latin typeface="Arial"/>
                <a:ea typeface="PingFang SC"/>
              </a:rPr>
              <a:t>：Linear 1280→5120 → GELU</a:t>
            </a:r>
          </a:p>
          <a:p>
            <a:pPr algn="ctr"/>
            <a:r>
              <a:rPr sz="1200" b="0" i="0">
                <a:solidFill>
                  <a:srgbClr val="1F2937"/>
                </a:solidFill>
                <a:latin typeface="Arial"/>
                <a:ea typeface="PingFang SC"/>
              </a:rPr>
              <a:t>→ Linear 5120→1280</a:t>
            </a:r>
          </a:p>
        </p:txBody>
      </p:sp>
      <p:sp>
        <p:nvSpPr>
          <p:cNvPr id="44" name="Oval 43"/>
          <p:cNvSpPr/>
          <p:nvPr/>
        </p:nvSpPr>
        <p:spPr>
          <a:xfrm>
            <a:off x="9468611" y="3108960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l"/>
            <a:r>
              <a:rPr sz="1400" b="1" i="0">
                <a:solidFill>
                  <a:srgbClr val="1F2937"/>
                </a:solidFill>
                <a:latin typeface="Arial"/>
                <a:ea typeface="PingFang SC"/>
              </a:rPr>
              <a:t>+</a:t>
            </a:r>
          </a:p>
        </p:txBody>
      </p:sp>
      <p:sp>
        <p:nvSpPr>
          <p:cNvPr id="45" name="Oval 44"/>
          <p:cNvSpPr/>
          <p:nvPr/>
        </p:nvSpPr>
        <p:spPr>
          <a:xfrm>
            <a:off x="9468611" y="4919472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l"/>
            <a:r>
              <a:rPr sz="1400" b="1" i="0">
                <a:solidFill>
                  <a:srgbClr val="1F2937"/>
                </a:solidFill>
                <a:latin typeface="Arial"/>
                <a:ea typeface="PingFang SC"/>
              </a:rPr>
              <a:t>+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08392" y="5376672"/>
            <a:ext cx="379476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150" b="0" i="0">
                <a:solidFill>
                  <a:srgbClr val="374151"/>
                </a:solidFill>
                <a:latin typeface="Menlo"/>
                <a:ea typeface="PingFang SC"/>
              </a:rPr>
              <a:t>输出 [1, 199, 1280] → 下一层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9605772" y="1810512"/>
            <a:ext cx="0" cy="18288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605772" y="2322576"/>
            <a:ext cx="0" cy="18288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9605772" y="2926080"/>
            <a:ext cx="0" cy="18288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605772" y="3383280"/>
            <a:ext cx="0" cy="27432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605772" y="3986784"/>
            <a:ext cx="0" cy="18288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605772" y="4736592"/>
            <a:ext cx="0" cy="18288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605772" y="5193792"/>
            <a:ext cx="0" cy="18288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7854696" y="1901952"/>
            <a:ext cx="1751076" cy="0"/>
          </a:xfrm>
          <a:prstGeom prst="line">
            <a:avLst/>
          </a:prstGeom>
          <a:ln w="15875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7854696" y="1901952"/>
            <a:ext cx="0" cy="1344168"/>
          </a:xfrm>
          <a:prstGeom prst="line">
            <a:avLst/>
          </a:prstGeom>
          <a:ln w="15875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7854696" y="3246120"/>
            <a:ext cx="1613915" cy="0"/>
          </a:xfrm>
          <a:prstGeom prst="line">
            <a:avLst/>
          </a:prstGeom>
          <a:ln w="15875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>
            <a:off x="7854696" y="3520440"/>
            <a:ext cx="1751076" cy="0"/>
          </a:xfrm>
          <a:prstGeom prst="line">
            <a:avLst/>
          </a:prstGeom>
          <a:ln w="15875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7854696" y="3520440"/>
            <a:ext cx="0" cy="1536192"/>
          </a:xfrm>
          <a:prstGeom prst="line">
            <a:avLst/>
          </a:prstGeom>
          <a:ln w="15875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7854696" y="5056632"/>
            <a:ext cx="1613915" cy="0"/>
          </a:xfrm>
          <a:prstGeom prst="line">
            <a:avLst/>
          </a:prstGeom>
          <a:ln w="15875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7214616" y="2436876"/>
            <a:ext cx="603504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000" b="0" i="1">
                <a:solidFill>
                  <a:srgbClr val="4B5563"/>
                </a:solidFill>
                <a:latin typeface="Arial"/>
                <a:ea typeface="PingFang SC"/>
              </a:rPr>
              <a:t>残差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214616" y="4151376"/>
            <a:ext cx="603504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000" b="0" i="1">
                <a:solidFill>
                  <a:srgbClr val="4B5563"/>
                </a:solidFill>
                <a:latin typeface="Arial"/>
                <a:ea typeface="PingFang SC"/>
              </a:rPr>
              <a:t>残差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100816" y="2505456"/>
            <a:ext cx="704087" cy="42062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2F5F9E"/>
                </a:solidFill>
                <a:latin typeface="Arial"/>
                <a:ea typeface="PingFang SC"/>
              </a:rPr>
              <a:t>6.56 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100816" y="4169664"/>
            <a:ext cx="704087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2F5F9E"/>
                </a:solidFill>
                <a:latin typeface="Arial"/>
                <a:ea typeface="PingFang SC"/>
              </a:rPr>
              <a:t>13.11 M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178040" y="5797296"/>
            <a:ext cx="46634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Arial"/>
                <a:ea typeface="PingFang SC"/>
              </a:rPr>
              <a:t>每层 19.68 M 参数 × 48 层 = 944.52 M，占全部 962.5 M 的 98%。checkpoint 另有 3.0 M 只在预训练时用的参数（quantizer 等），推理时丢弃。权重 fp32，文件 3.86 GB。</a:t>
            </a:r>
          </a:p>
          <a:p>
            <a:pPr algn="l"/>
            <a:r>
              <a:rPr sz="1100" b="0" i="0">
                <a:solidFill>
                  <a:srgbClr val="4B5563"/>
                </a:solidFill>
                <a:latin typeface="Arial"/>
                <a:ea typeface="PingFang SC"/>
              </a:rPr>
              <a:t>蓝色：XLS-R（Meta 预训练，NII 后训练时全部更新）；橙色：NII 新加的分类头。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1F2937"/>
                </a:solidFill>
                <a:latin typeface="Arial"/>
                <a:ea typeface="Arial"/>
              </a:rPr>
              <a:t>XLS-R-1B-AntiDeepfake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21792"/>
            <a:ext cx="11338560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Arial"/>
                <a:ea typeface="Arial"/>
              </a:rPr>
              <a:t>Example: a 4 s clip = 64,000 samples at 16 kHz. Brackets show tensor shapes [batch, …]; parameter counts are measured on the local xlsr_1b.ckpt.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" y="1024128"/>
            <a:ext cx="4983480" cy="420624"/>
          </a:xfrm>
          <a:prstGeom prst="roundRect">
            <a:avLst>
              <a:gd name="adj" fmla="val 10000"/>
            </a:avLst>
          </a:prstGeom>
          <a:solidFill>
            <a:srgbClr val="F1F3F6"/>
          </a:solidFill>
          <a:ln w="15875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sz="1400" b="1" i="0">
                <a:solidFill>
                  <a:srgbClr val="1F2937"/>
                </a:solidFill>
                <a:latin typeface="Arial"/>
                <a:ea typeface="Arial"/>
              </a:rPr>
              <a:t>Input</a:t>
            </a:r>
            <a:r>
              <a:rPr sz="1200" b="0" i="0">
                <a:solidFill>
                  <a:srgbClr val="1F2937"/>
                </a:solidFill>
                <a:latin typeface="Arial"/>
                <a:ea typeface="Arial"/>
              </a:rPr>
              <a:t>   16 kHz mono waveform, zero mean, unit variance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23559" y="1024128"/>
            <a:ext cx="1234440" cy="42062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1100" b="0" i="1">
                <a:solidFill>
                  <a:srgbClr val="4B5563"/>
                </a:solidFill>
                <a:latin typeface="Arial"/>
                <a:ea typeface="Arial"/>
              </a:rPr>
              <a:t>Parameters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451860" y="1444752"/>
            <a:ext cx="0" cy="246888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561588" y="1444752"/>
            <a:ext cx="3291840" cy="2468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  <a:latin typeface="Menlo"/>
                <a:ea typeface="Arial"/>
              </a:rPr>
              <a:t>[1, 64000]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1691640"/>
            <a:ext cx="4983480" cy="877824"/>
          </a:xfrm>
          <a:prstGeom prst="roundRect">
            <a:avLst>
              <a:gd name="adj" fmla="val 10000"/>
            </a:avLst>
          </a:prstGeom>
          <a:solidFill>
            <a:srgbClr val="E3EEFA"/>
          </a:solidFill>
          <a:ln w="15875">
            <a:solidFill>
              <a:srgbClr val="3D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sz="1400" b="1" i="0">
                <a:solidFill>
                  <a:srgbClr val="1F2937"/>
                </a:solidFill>
                <a:latin typeface="Arial"/>
                <a:ea typeface="Arial"/>
              </a:rPr>
              <a:t>CNN feature encoder</a:t>
            </a:r>
          </a:p>
          <a:p>
            <a:pPr algn="l"/>
            <a:r>
              <a:rPr sz="1200" b="0" i="0">
                <a:solidFill>
                  <a:srgbClr val="1F2937"/>
                </a:solidFill>
                <a:latin typeface="Arial"/>
                <a:ea typeface="Arial"/>
              </a:rPr>
              <a:t>7 × (Conv1d → LayerNorm → GELU), 512 channels</a:t>
            </a:r>
          </a:p>
          <a:p>
            <a:pPr algn="l"/>
            <a:r>
              <a:rPr sz="1200" b="0" i="0">
                <a:solidFill>
                  <a:srgbClr val="1F2937"/>
                </a:solidFill>
                <a:latin typeface="Arial"/>
                <a:ea typeface="Arial"/>
              </a:rPr>
              <a:t>kernels 10,3,3,3,3,2,2 · strides 5,2,2,2,2,2,2</a:t>
            </a:r>
          </a:p>
          <a:p>
            <a:pPr algn="l"/>
            <a:r>
              <a:rPr sz="1200" b="0" i="0">
                <a:solidFill>
                  <a:srgbClr val="1F2937"/>
                </a:solidFill>
                <a:latin typeface="Arial"/>
                <a:ea typeface="Arial"/>
              </a:rPr>
              <a:t>each frame sees 25 ms, hop 20 ms (about 50 frames/s)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9320" y="1691640"/>
            <a:ext cx="868680" cy="87782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1300" b="1" i="0">
                <a:solidFill>
                  <a:srgbClr val="3D6FB0"/>
                </a:solidFill>
                <a:latin typeface="Arial"/>
                <a:ea typeface="Arial"/>
              </a:rPr>
              <a:t>4.21 M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451860" y="2569464"/>
            <a:ext cx="0" cy="246888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561588" y="2569464"/>
            <a:ext cx="3291840" cy="2468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  <a:latin typeface="Menlo"/>
                <a:ea typeface="Arial"/>
              </a:rPr>
              <a:t>[1, 512, 199]   199 frames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2816352"/>
            <a:ext cx="4983480" cy="420624"/>
          </a:xfrm>
          <a:prstGeom prst="roundRect">
            <a:avLst>
              <a:gd name="adj" fmla="val 10000"/>
            </a:avLst>
          </a:prstGeom>
          <a:solidFill>
            <a:srgbClr val="E3EEFA"/>
          </a:solidFill>
          <a:ln w="15875">
            <a:solidFill>
              <a:srgbClr val="3D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sz="1400" b="1" i="0">
                <a:solidFill>
                  <a:srgbClr val="1F2937"/>
                </a:solidFill>
                <a:latin typeface="Arial"/>
                <a:ea typeface="Arial"/>
              </a:rPr>
              <a:t>Feature projection</a:t>
            </a:r>
            <a:r>
              <a:rPr sz="1200" b="0" i="0">
                <a:solidFill>
                  <a:srgbClr val="1F2937"/>
                </a:solidFill>
                <a:latin typeface="Arial"/>
                <a:ea typeface="Arial"/>
              </a:rPr>
              <a:t>   LayerNorm(512) → Linear 512→1280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2816352"/>
            <a:ext cx="868680" cy="42062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1300" b="1" i="0">
                <a:solidFill>
                  <a:srgbClr val="3D6FB0"/>
                </a:solidFill>
                <a:latin typeface="Arial"/>
                <a:ea typeface="Arial"/>
              </a:rPr>
              <a:t>0.66 M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451860" y="3236976"/>
            <a:ext cx="0" cy="246888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561588" y="3236976"/>
            <a:ext cx="3291840" cy="2468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  <a:latin typeface="Menlo"/>
                <a:ea typeface="Arial"/>
              </a:rPr>
              <a:t>[1, 199, 1280]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" y="3483864"/>
            <a:ext cx="4983480" cy="566928"/>
          </a:xfrm>
          <a:prstGeom prst="roundRect">
            <a:avLst>
              <a:gd name="adj" fmla="val 10000"/>
            </a:avLst>
          </a:prstGeom>
          <a:solidFill>
            <a:srgbClr val="E3EEFA"/>
          </a:solidFill>
          <a:ln w="15875">
            <a:solidFill>
              <a:srgbClr val="3D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sz="1400" b="1" i="0">
                <a:solidFill>
                  <a:srgbClr val="1F2937"/>
                </a:solidFill>
                <a:latin typeface="Arial"/>
                <a:ea typeface="Arial"/>
              </a:rPr>
              <a:t>Convolutional positional embedding</a:t>
            </a:r>
          </a:p>
          <a:p>
            <a:pPr algn="l"/>
            <a:r>
              <a:rPr sz="1200" b="0" i="0">
                <a:solidFill>
                  <a:srgbClr val="1F2937"/>
                </a:solidFill>
                <a:latin typeface="Arial"/>
                <a:ea typeface="Arial"/>
              </a:rPr>
              <a:t>Conv1d (kernel 128, 16 groups) → GELU, added to the input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3483864"/>
            <a:ext cx="868680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1300" b="1" i="0">
                <a:solidFill>
                  <a:srgbClr val="3D6FB0"/>
                </a:solidFill>
                <a:latin typeface="Arial"/>
                <a:ea typeface="Arial"/>
              </a:rPr>
              <a:t>13.11 M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451860" y="4050791"/>
            <a:ext cx="0" cy="246888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561588" y="4050791"/>
            <a:ext cx="3291840" cy="2468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  <a:latin typeface="Menlo"/>
                <a:ea typeface="Arial"/>
              </a:rPr>
              <a:t>[1, 199, 1280]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" y="4297680"/>
            <a:ext cx="4983480" cy="658368"/>
          </a:xfrm>
          <a:prstGeom prst="roundRect">
            <a:avLst>
              <a:gd name="adj" fmla="val 10000"/>
            </a:avLst>
          </a:prstGeom>
          <a:solidFill>
            <a:srgbClr val="D3E3F7"/>
          </a:solidFill>
          <a:ln w="15875">
            <a:solidFill>
              <a:srgbClr val="2F5F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sz="1400" b="1" i="0">
                <a:solidFill>
                  <a:srgbClr val="1F2937"/>
                </a:solidFill>
                <a:latin typeface="Arial"/>
                <a:ea typeface="Arial"/>
              </a:rPr>
              <a:t>Transformer encoder × 48</a:t>
            </a:r>
          </a:p>
          <a:p>
            <a:pPr algn="l"/>
            <a:r>
              <a:rPr sz="1200" b="0" i="0">
                <a:solidFill>
                  <a:srgbClr val="1F2937"/>
                </a:solidFill>
                <a:latin typeface="Arial"/>
                <a:ea typeface="Arial"/>
              </a:rPr>
              <a:t>width 1280 · 16 heads · FFN 5120 · GELU · pre-LN</a:t>
            </a:r>
          </a:p>
          <a:p>
            <a:pPr algn="l"/>
            <a:r>
              <a:rPr sz="1200" b="0" i="0">
                <a:solidFill>
                  <a:srgbClr val="1F2937"/>
                </a:solidFill>
                <a:latin typeface="Arial"/>
                <a:ea typeface="Arial"/>
              </a:rPr>
              <a:t>plus one final LayerNorm after layer 48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4297680"/>
            <a:ext cx="868680" cy="65836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1300" b="1" i="0">
                <a:solidFill>
                  <a:srgbClr val="2F5F9E"/>
                </a:solidFill>
                <a:latin typeface="Arial"/>
                <a:ea typeface="Arial"/>
              </a:rPr>
              <a:t>944.52 M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451860" y="4956048"/>
            <a:ext cx="0" cy="246888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561588" y="4956048"/>
            <a:ext cx="3291840" cy="2468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  <a:latin typeface="Menlo"/>
                <a:ea typeface="Arial"/>
              </a:rPr>
              <a:t>[1, 199, 1280]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0120" y="5202936"/>
            <a:ext cx="4983480" cy="566928"/>
          </a:xfrm>
          <a:prstGeom prst="roundRect">
            <a:avLst>
              <a:gd name="adj" fmla="val 10000"/>
            </a:avLst>
          </a:prstGeom>
          <a:solidFill>
            <a:srgbClr val="FCE9D2"/>
          </a:solidFill>
          <a:ln w="15875">
            <a:solidFill>
              <a:srgbClr val="C97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sz="1400" b="1" i="0">
                <a:solidFill>
                  <a:srgbClr val="1F2937"/>
                </a:solidFill>
                <a:latin typeface="Arial"/>
                <a:ea typeface="Arial"/>
              </a:rPr>
              <a:t>Classification head (AntiDeepfake)</a:t>
            </a:r>
          </a:p>
          <a:p>
            <a:pPr algn="l"/>
            <a:r>
              <a:rPr sz="1200" b="0" i="0">
                <a:solidFill>
                  <a:srgbClr val="1F2937"/>
                </a:solidFill>
                <a:latin typeface="Arial"/>
                <a:ea typeface="Arial"/>
              </a:rPr>
              <a:t>mean over the 199 frames → [1, 1280] → Linear 1280→2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5202936"/>
            <a:ext cx="868680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1300" b="1" i="0">
                <a:solidFill>
                  <a:srgbClr val="C9792B"/>
                </a:solidFill>
                <a:latin typeface="Arial"/>
                <a:ea typeface="Arial"/>
              </a:rPr>
              <a:t>2,562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451860" y="5769864"/>
            <a:ext cx="0" cy="246888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561588" y="5769864"/>
            <a:ext cx="3291840" cy="2468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  <a:latin typeface="Menlo"/>
                <a:ea typeface="Arial"/>
              </a:rPr>
              <a:t>[1, 2]   logits [fake, real]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0120" y="6016752"/>
            <a:ext cx="4983480" cy="420624"/>
          </a:xfrm>
          <a:prstGeom prst="roundRect">
            <a:avLst>
              <a:gd name="adj" fmla="val 10000"/>
            </a:avLst>
          </a:prstGeom>
          <a:solidFill>
            <a:srgbClr val="F1F3F6"/>
          </a:solidFill>
          <a:ln w="15875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sz="1400" b="1" i="0">
                <a:solidFill>
                  <a:srgbClr val="1F2937"/>
                </a:solidFill>
                <a:latin typeface="Arial"/>
                <a:ea typeface="Arial"/>
              </a:rPr>
              <a:t>Output</a:t>
            </a:r>
            <a:r>
              <a:rPr sz="1200" b="0" i="0">
                <a:solidFill>
                  <a:srgbClr val="1F2937"/>
                </a:solidFill>
                <a:latin typeface="Arial"/>
                <a:ea typeface="Arial"/>
              </a:rPr>
              <a:t>   softmax → P(real); real if P(real) ≥ 0.5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41248" y="1728216"/>
            <a:ext cx="0" cy="3191256"/>
          </a:xfrm>
          <a:prstGeom prst="line">
            <a:avLst/>
          </a:prstGeom>
          <a:ln w="25400">
            <a:solidFill>
              <a:srgbClr val="3D6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41248" y="1728216"/>
            <a:ext cx="73152" cy="0"/>
          </a:xfrm>
          <a:prstGeom prst="line">
            <a:avLst/>
          </a:prstGeom>
          <a:ln w="25400">
            <a:solidFill>
              <a:srgbClr val="3D6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41248" y="4919472"/>
            <a:ext cx="73152" cy="0"/>
          </a:xfrm>
          <a:prstGeom prst="line">
            <a:avLst/>
          </a:prstGeom>
          <a:ln w="25400">
            <a:solidFill>
              <a:srgbClr val="3D6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 rot="16200000">
            <a:off x="-992124" y="3168396"/>
            <a:ext cx="3264408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150" b="1" i="0">
                <a:solidFill>
                  <a:srgbClr val="3D6FB0"/>
                </a:solidFill>
                <a:latin typeface="Arial"/>
                <a:ea typeface="Arial"/>
              </a:rPr>
              <a:t>XLS-R 1B backbone (wav2vec 2.0)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41248" y="5239512"/>
            <a:ext cx="0" cy="493776"/>
          </a:xfrm>
          <a:prstGeom prst="line">
            <a:avLst/>
          </a:prstGeom>
          <a:ln w="25400">
            <a:solidFill>
              <a:srgbClr val="C97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41248" y="5239512"/>
            <a:ext cx="73152" cy="0"/>
          </a:xfrm>
          <a:prstGeom prst="line">
            <a:avLst/>
          </a:prstGeom>
          <a:ln w="25400">
            <a:solidFill>
              <a:srgbClr val="C97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41248" y="5733288"/>
            <a:ext cx="73152" cy="0"/>
          </a:xfrm>
          <a:prstGeom prst="line">
            <a:avLst/>
          </a:prstGeom>
          <a:ln w="25400">
            <a:solidFill>
              <a:srgbClr val="C97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 rot="16200000">
            <a:off x="182879" y="5330952"/>
            <a:ext cx="914400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150" b="1" i="0">
                <a:solidFill>
                  <a:srgbClr val="C9792B"/>
                </a:solidFill>
                <a:latin typeface="Arial"/>
                <a:ea typeface="Arial"/>
              </a:rPr>
              <a:t>Head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78040" y="1024128"/>
            <a:ext cx="466344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Arial"/>
                <a:ea typeface="Arial"/>
              </a:rPr>
              <a:t>One Transformer layer (pre-LN), 48 in total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78040" y="1444752"/>
            <a:ext cx="4663440" cy="4261104"/>
          </a:xfrm>
          <a:prstGeom prst="roundRect">
            <a:avLst>
              <a:gd name="adj" fmla="val 4000"/>
            </a:avLst>
          </a:prstGeom>
          <a:solidFill>
            <a:srgbClr val="F8FAFD"/>
          </a:solidFill>
          <a:ln w="12700">
            <a:solidFill>
              <a:srgbClr val="2F5F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08392" y="1536192"/>
            <a:ext cx="379476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150" b="0" i="0">
                <a:solidFill>
                  <a:srgbClr val="374151"/>
                </a:solidFill>
                <a:latin typeface="Menlo"/>
                <a:ea typeface="Arial"/>
              </a:rPr>
              <a:t>input [1, 199, 1280]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65592" y="1993392"/>
            <a:ext cx="2880360" cy="329184"/>
          </a:xfrm>
          <a:prstGeom prst="roundRect">
            <a:avLst>
              <a:gd name="adj" fmla="val 10000"/>
            </a:avLst>
          </a:prstGeom>
          <a:solidFill>
            <a:srgbClr val="F1F3F6"/>
          </a:solidFill>
          <a:ln w="15875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ctr"/>
            <a:r>
              <a:rPr sz="1200" b="0" i="0">
                <a:solidFill>
                  <a:srgbClr val="1F2937"/>
                </a:solidFill>
                <a:latin typeface="Arial"/>
                <a:ea typeface="Arial"/>
              </a:rPr>
              <a:t>LayerNorm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65592" y="2505456"/>
            <a:ext cx="2880360" cy="420624"/>
          </a:xfrm>
          <a:prstGeom prst="roundRect">
            <a:avLst>
              <a:gd name="adj" fmla="val 10000"/>
            </a:avLst>
          </a:prstGeom>
          <a:solidFill>
            <a:srgbClr val="D3E3F7"/>
          </a:solidFill>
          <a:ln w="15875">
            <a:solidFill>
              <a:srgbClr val="2F5F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ctr"/>
            <a:r>
              <a:rPr sz="1200" b="1" i="0">
                <a:solidFill>
                  <a:srgbClr val="1F2937"/>
                </a:solidFill>
                <a:latin typeface="Arial"/>
                <a:ea typeface="Arial"/>
              </a:rPr>
              <a:t>Multi-head self-attention</a:t>
            </a:r>
            <a:r>
              <a:rPr sz="1200" b="0" i="0">
                <a:solidFill>
                  <a:srgbClr val="1F2937"/>
                </a:solidFill>
                <a:latin typeface="Arial"/>
                <a:ea typeface="Arial"/>
              </a:rPr>
              <a:t> (16 × 80)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65592" y="3657600"/>
            <a:ext cx="2880360" cy="329184"/>
          </a:xfrm>
          <a:prstGeom prst="roundRect">
            <a:avLst>
              <a:gd name="adj" fmla="val 10000"/>
            </a:avLst>
          </a:prstGeom>
          <a:solidFill>
            <a:srgbClr val="F1F3F6"/>
          </a:solidFill>
          <a:ln w="15875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ctr"/>
            <a:r>
              <a:rPr sz="1200" b="0" i="0">
                <a:solidFill>
                  <a:srgbClr val="1F2937"/>
                </a:solidFill>
                <a:latin typeface="Arial"/>
                <a:ea typeface="Arial"/>
              </a:rPr>
              <a:t>LayerNorm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165592" y="4169664"/>
            <a:ext cx="2880360" cy="566928"/>
          </a:xfrm>
          <a:prstGeom prst="roundRect">
            <a:avLst>
              <a:gd name="adj" fmla="val 10000"/>
            </a:avLst>
          </a:prstGeom>
          <a:solidFill>
            <a:srgbClr val="D3E3F7"/>
          </a:solidFill>
          <a:ln w="15875">
            <a:solidFill>
              <a:srgbClr val="2F5F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ctr"/>
            <a:r>
              <a:rPr sz="1200" b="1" i="0">
                <a:solidFill>
                  <a:srgbClr val="1F2937"/>
                </a:solidFill>
                <a:latin typeface="Arial"/>
                <a:ea typeface="Arial"/>
              </a:rPr>
              <a:t>FFN</a:t>
            </a:r>
            <a:r>
              <a:rPr sz="1200" b="0" i="0">
                <a:solidFill>
                  <a:srgbClr val="1F2937"/>
                </a:solidFill>
                <a:latin typeface="Arial"/>
                <a:ea typeface="Arial"/>
              </a:rPr>
              <a:t>: Linear 1280→5120 → GELU</a:t>
            </a:r>
          </a:p>
          <a:p>
            <a:pPr algn="ctr"/>
            <a:r>
              <a:rPr sz="1200" b="0" i="0">
                <a:solidFill>
                  <a:srgbClr val="1F2937"/>
                </a:solidFill>
                <a:latin typeface="Arial"/>
                <a:ea typeface="Arial"/>
              </a:rPr>
              <a:t>→ Linear 5120→1280</a:t>
            </a:r>
          </a:p>
        </p:txBody>
      </p:sp>
      <p:sp>
        <p:nvSpPr>
          <p:cNvPr id="44" name="Oval 43"/>
          <p:cNvSpPr/>
          <p:nvPr/>
        </p:nvSpPr>
        <p:spPr>
          <a:xfrm>
            <a:off x="9468611" y="3108960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l"/>
            <a:r>
              <a:rPr sz="1400" b="1" i="0">
                <a:solidFill>
                  <a:srgbClr val="1F2937"/>
                </a:solidFill>
                <a:latin typeface="Arial"/>
                <a:ea typeface="Arial"/>
              </a:rPr>
              <a:t>+</a:t>
            </a:r>
          </a:p>
        </p:txBody>
      </p:sp>
      <p:sp>
        <p:nvSpPr>
          <p:cNvPr id="45" name="Oval 44"/>
          <p:cNvSpPr/>
          <p:nvPr/>
        </p:nvSpPr>
        <p:spPr>
          <a:xfrm>
            <a:off x="9468611" y="4919472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l"/>
            <a:r>
              <a:rPr sz="1400" b="1" i="0">
                <a:solidFill>
                  <a:srgbClr val="1F2937"/>
                </a:solidFill>
                <a:latin typeface="Arial"/>
                <a:ea typeface="Arial"/>
              </a:rPr>
              <a:t>+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08392" y="5376672"/>
            <a:ext cx="379476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150" b="0" i="0">
                <a:solidFill>
                  <a:srgbClr val="374151"/>
                </a:solidFill>
                <a:latin typeface="Menlo"/>
                <a:ea typeface="Arial"/>
              </a:rPr>
              <a:t>output [1, 199, 1280] → next layer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9605772" y="1810512"/>
            <a:ext cx="0" cy="18288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605772" y="2322576"/>
            <a:ext cx="0" cy="18288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9605772" y="2926080"/>
            <a:ext cx="0" cy="18288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605772" y="3383280"/>
            <a:ext cx="0" cy="27432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605772" y="3986784"/>
            <a:ext cx="0" cy="18288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605772" y="4736592"/>
            <a:ext cx="0" cy="18288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605772" y="5193792"/>
            <a:ext cx="0" cy="18288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7854696" y="1901952"/>
            <a:ext cx="1751076" cy="0"/>
          </a:xfrm>
          <a:prstGeom prst="line">
            <a:avLst/>
          </a:prstGeom>
          <a:ln w="15875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7854696" y="1901952"/>
            <a:ext cx="0" cy="1344168"/>
          </a:xfrm>
          <a:prstGeom prst="line">
            <a:avLst/>
          </a:prstGeom>
          <a:ln w="15875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7854696" y="3246120"/>
            <a:ext cx="1613915" cy="0"/>
          </a:xfrm>
          <a:prstGeom prst="line">
            <a:avLst/>
          </a:prstGeom>
          <a:ln w="15875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>
            <a:off x="7854696" y="3520440"/>
            <a:ext cx="1751076" cy="0"/>
          </a:xfrm>
          <a:prstGeom prst="line">
            <a:avLst/>
          </a:prstGeom>
          <a:ln w="15875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7854696" y="3520440"/>
            <a:ext cx="0" cy="1536192"/>
          </a:xfrm>
          <a:prstGeom prst="line">
            <a:avLst/>
          </a:prstGeom>
          <a:ln w="15875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7854696" y="5056632"/>
            <a:ext cx="1613915" cy="0"/>
          </a:xfrm>
          <a:prstGeom prst="line">
            <a:avLst/>
          </a:prstGeom>
          <a:ln w="15875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7214616" y="2436876"/>
            <a:ext cx="603504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000" b="0" i="1">
                <a:solidFill>
                  <a:srgbClr val="4B5563"/>
                </a:solidFill>
                <a:latin typeface="Arial"/>
                <a:ea typeface="Arial"/>
              </a:rPr>
              <a:t>residual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214616" y="4151376"/>
            <a:ext cx="603504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000" b="0" i="1">
                <a:solidFill>
                  <a:srgbClr val="4B5563"/>
                </a:solidFill>
                <a:latin typeface="Arial"/>
                <a:ea typeface="Arial"/>
              </a:rPr>
              <a:t>residual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100816" y="2505456"/>
            <a:ext cx="704087" cy="42062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2F5F9E"/>
                </a:solidFill>
                <a:latin typeface="Arial"/>
                <a:ea typeface="Arial"/>
              </a:rPr>
              <a:t>6.56 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100816" y="4169664"/>
            <a:ext cx="704087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2F5F9E"/>
                </a:solidFill>
                <a:latin typeface="Arial"/>
                <a:ea typeface="Arial"/>
              </a:rPr>
              <a:t>13.11 M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178040" y="5797296"/>
            <a:ext cx="46634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Arial"/>
                <a:ea typeface="Arial"/>
              </a:rPr>
              <a:t>19.68 M parameters per layer × 48 = 944.52 M, 98% of all 962.5 M. The checkpoint holds 3.0 M more that only pre-training uses (quantizer etc.), dropped for inference. fp32, 3.86 GB.</a:t>
            </a:r>
          </a:p>
          <a:p>
            <a:pPr algn="l"/>
            <a:r>
              <a:rPr sz="1100" b="0" i="0">
                <a:solidFill>
                  <a:srgbClr val="4B5563"/>
                </a:solidFill>
                <a:latin typeface="Arial"/>
                <a:ea typeface="Arial"/>
              </a:rPr>
              <a:t>Blue: XLS-R (pre-trained by Meta, fully updated in NII's post-training). Orange: the head added by NII.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XLS-R-1B-AntiDeepfake architecture</dc:title>
  <dc:subject/>
  <dc:creator/>
  <cp:keywords/>
  <dc:description/>
  <cp:lastModifiedBy/>
  <cp:revision>1</cp:revision>
  <dcterms:created xsi:type="dcterms:W3CDTF">2026-10-28T12:00:00Z</dcterms:created>
  <dcterms:modified xsi:type="dcterms:W3CDTF">2026-10-28T12:00:00Z</dcterms:modified>
  <cp:category/>
</cp:coreProperties>
</file>